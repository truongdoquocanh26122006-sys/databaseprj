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158B5-6C9D-541B-9D38-A9BA90C10377}" v="16" dt="2026-06-22T06:45:47.197"/>
    <p1510:client id="{5BD5E096-FE1B-C383-73C8-7BD5DF382FB9}" v="4" dt="2026-06-22T07:25:55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bản ghi</c:v>
                </c:pt>
              </c:strCache>
            </c:strRef>
          </c:tx>
          <c:spPr>
            <a:solidFill>
              <a:srgbClr val="0033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orders</c:v>
                </c:pt>
                <c:pt idx="1">
                  <c:v>chitietorder</c:v>
                </c:pt>
                <c:pt idx="2">
                  <c:v>khachhang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6501</c:v>
                </c:pt>
                <c:pt idx="1">
                  <c:v>9107</c:v>
                </c:pt>
                <c:pt idx="2">
                  <c:v>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2-4175-9099-BACDE3D31E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1E87-2CB8-4491-B8C1-F39C2FAB88E2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FA6DD-0DC6-4D20-BE37-AD712B87C0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7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BÀI TẬP LỚN  ·  THỰC HÀNH CƠ SỞ DỮ LIỆU (IT3290)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TÀI: HỆ THỐNG QUẢN LÝ KHÔNG GIAN HỌC TẬP STUDYSPACE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6  ·  Trương Đỗ Quốc Anh · Trần Ngọc Mai · Doãn Phương Thảo · Nguyễn Thị Minh Ngọc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kỳ 2 — Năm học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đề tài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StudySpace là không gian học tập có thu phí, kèm bán vật phẩm và quản lý vận hành.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đặt chỗ, order dịch vụ, kho vật phẩm, gói thành viên, nhân sự và báo cáo — nhiều nghiệp vụ đan xen, dễ lệch dữ liệu nếu làm tay.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CSDL chuẩn hóa, đẩy toàn bộ quy tắc nghiệp vụ xuống tầng database bằng constraint, trigger, function; có dữ liệu test và web demo.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cơ sở StudySpace: chỗ ngồi (ghế/phòng riêng), dịch vụ, vật phẩm &amp; kho, khách hàng &amp; gói, nhân sự &amp; ca làm, báo cáo vận hành.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146304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PostgreSQL  ·  15 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bảng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 ·  51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đối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tượng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SQL  ·  ~6.500 order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phỏng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6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 ·  web React + Express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minh</a:t>
            </a:r>
            <a:r>
              <a:rPr lang="en-US" sz="1300" b="1" dirty="0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003366"/>
                </a:solidFill>
                <a:latin typeface="Calibri"/>
                <a:ea typeface="Calibri"/>
                <a:cs typeface="Calibri"/>
              </a:rPr>
              <a:t>họa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báo cáo: thiết kế dữ liệu (ER → quan hệ → chuẩn hóa), ràng buộc toàn vẹn và logic nghiệp vụ bằng SQL. Web chỉ là lớp minh họa.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nhóm người dùng cùng tác động lên orders và hệ thống báo cáo.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trước, check-in, dùng dịch vụ, mua vật phẩm, tích điểm và nhận ưu đãi theo rank.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order, xác nhận check-in, thêm vật phẩm, thanh toán, cập nhật ca làm.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doanh thu, tồn kho, hiệu suất nhân viên, gói hoạt động, dữ liệu bất thường.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 CHÍNH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chỗ &amp; check-in theo thời gian thực.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vật phẩm gắn với tồn kho.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điểm, rank, gói hoạt động.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7947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ca làm, lương, nghỉ sớm.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doanh thu, tồn kho, hiệu suất.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thao tác sai từ mọi nguồn.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nghiệp vụ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business rule này về sau được hiện thực hóa bằng constraint và trigger.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160934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865376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ghế/phòng riêng không thể bị hai order Dat truoc hoặc Dang dung chiếm cùng lúc.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487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27432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order chỉ chọn đúng một loại chỗ: ghế hoặc phòng riêng.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364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362102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vật phẩm thuộc một kho cố định; không chuyển kho sau khi tạo.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" y="4498848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vật phẩm là duy nhất (kể cả khác hoa/thường, khoảng trắng).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138928"/>
            <a:ext cx="384048" cy="384048"/>
          </a:xfrm>
          <a:prstGeom prst="ellipse">
            <a:avLst/>
          </a:prstGeom>
          <a:solidFill>
            <a:srgbClr val="C0203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51206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53766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 vật phẩm trong một order không vượt quá tồn kho.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66944" y="160934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66944" y="1865376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 hoạt động chỉ cho DV03/DV04; một khách không có hai gói trùng thời gian.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505456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24871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66944" y="274320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thêm vật phẩm vào order đã Hoan thanh hoặc Da huy.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383280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66944" y="33649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66944" y="362102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đặt trước tự hủy nếu không check-in trong 30 phút.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4261104"/>
            <a:ext cx="384048" cy="38404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66944" y="42428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66944" y="4498848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ca làm nhận tối đa 3 nhân viên.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5138928"/>
            <a:ext cx="384048" cy="384048"/>
          </a:xfrm>
          <a:prstGeom prst="ellipse">
            <a:avLst/>
          </a:prstGeom>
          <a:solidFill>
            <a:srgbClr val="C02034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66944" y="512064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66944" y="53766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kết thúc phải sau giờ bắt đầu (order); ngày kết thúc gói phải sau ngày bắt đầu.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thực thể – liên kết (ERD)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ER theo ký hiệu Chen: thực thể (chữ nhật), quan hệ (thoi), thuộc tính (bầu dục).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Hình: ERD StudySpace (Visual Paradigm) — orders là thực thể trung tâm.</a:t>
            </a:r>
            <a:endParaRPr lang="en-US" sz="1050" dirty="0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AC9C136E-923D-1639-3D90-C28C3A401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3954"/>
            <a:ext cx="9144000" cy="4674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dữ liệu quan hệ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i="1" dirty="0">
              <a:solidFill>
                <a:srgbClr val="003366"/>
              </a:solidFill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i="1" dirty="0">
              <a:solidFill>
                <a:srgbClr val="5B6573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2DC16D-D434-FC61-AB35-9429C776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06" y="895937"/>
            <a:ext cx="8075907" cy="534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lược đồ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quan hệ đạt dạng chuẩn 3 (3NF).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thuộc tính đều nguyên tố, không có nhóm lặp. Quan hệ nhiều–nhiều được tách bảng riêng (chitietorder cho order–vật phẩm, dilam cho nhân viên–ca làm).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1691640"/>
            <a:ext cx="24993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8691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91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khóa kép (chitietorder: maorder+mavp; calam: ngay+cathu), mọi thuộc tính không khóa phụ thuộc đầy đủ vào toàn bộ khóa — không có phụ thuộc bộ phận.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440" y="1691640"/>
            <a:ext cx="2499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7440" y="1691640"/>
            <a:ext cx="24993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828800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2032" y="2148840"/>
            <a:ext cx="21701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còn phụ thuộc bắc cầu: thuộc tính không khóa chỉ phụ thuộc trực tiếp vào khóa chính của bảng.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1005840"/>
          </a:xfrm>
          <a:prstGeom prst="rect">
            <a:avLst/>
          </a:prstGeom>
          <a:solidFill>
            <a:srgbClr val="EEF3F9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06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thiết kế: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của khách được suy từ diemtichluy — là giá trị dẫn xuất, được trigger/function tự cập nhật. Đây là phi chuẩn hóa có chủ đích để truy vấn nhanh.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toàn vẹn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quy tắc nghiệp vụ được ép ở tầng database — chống lỗi từ web, pgAdmin hay script.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Chỗ ngồi không trùng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unique index trên maghe/mapr khi status IN (Dat truoc, Dang dung).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708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7167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đúng 1 loại chỗ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167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num_nonnulls(maghe, mapr) = 1: không vừa ghế vừa phòng, không bỏ trống.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696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632155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vật phẩm duy nhất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2155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tenvp và index lower(trim(tenvp)) chặn lách bằng hoa/thường, khoảng trắng.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8214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82140" y="320040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204673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cố định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4673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ngăn chuyển kho sai; nhập hàng chỉ chọn vật phẩm, DB tự giữ makho.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2020" y="3200400"/>
            <a:ext cx="252984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661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order đã đóng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661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chặn thêm/sửa chitietorder nếu order đã Hoan thanh / Da huy.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dữ liệu mẫu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PostgreSQL; dữ liệu mô phỏng 6 tháng đủ lớn để kiểm tra báo cáo và ràng buộc.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73152" cy="96012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1" name="Text 9"/>
          <p:cNvSpPr/>
          <p:nvPr/>
        </p:nvSpPr>
        <p:spPr>
          <a:xfrm>
            <a:off x="278434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9,107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434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73152" cy="96012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1,825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91032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30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3630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phẩm / 4 kho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2971800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9"/>
          <p:cNvSpPr/>
          <p:nvPr/>
        </p:nvSpPr>
        <p:spPr>
          <a:xfrm>
            <a:off x="6035040" y="32461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~1.4 dòng chi tiết / order: nhiều khách chỉ dùng dịch vụ, một phần mua thêm vật phẩm. Dữ liệu dàn trải để báo cáo theo tháng/ngày có ý nghĩa.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nghiệp vụ bằng SQL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đối tượng SQL, vượt yêu cầu tối thiểu — toàn bộ nghiệp vụ nằm trong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73152" cy="96012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1" name="Text 9"/>
          <p:cNvSpPr/>
          <p:nvPr/>
        </p:nvSpPr>
        <p:spPr>
          <a:xfrm>
            <a:off x="278434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434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73152" cy="96012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91032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73152" cy="9601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308" y="1801368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36308" y="2258568"/>
            <a:ext cx="1540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đặt chỗ: tạo order, đặt trước, check-in, thanh toán, thêm vật phẩm.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vật phẩm: nhập hàng, kiểm tra tồn kho, top vật phẩm theo tháng.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&amp; gói: đăng ký, gia hạn, hủy gói, tính điểm/rank/discount.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&amp; báo cáo: ca làm, nghỉ sớm, hiệu suất, lương, doanh thu.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nổi bật: check-in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fn_checkin xác thực trạng thái, tự hủy nếu quá hạn, rồi mở phiên sử dụng.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12080" cy="4069080"/>
          </a:xfrm>
          <a:prstGeom prst="rect">
            <a:avLst/>
          </a:prstGeom>
          <a:solidFill>
            <a:srgbClr val="0B1F3A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19072"/>
            <a:ext cx="49377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fn_checkin(p_maorder VARCHAR)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text AS $$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v_status VARCHAR(20); v_tg TIMESTAMP;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status, thoigiandat INTO v_status, v_tg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WHERE maorder = 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FOUND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'Order % khong ton tai.',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v_status &lt;&gt; 'Dat truoc'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'Khong phai Dat truoc (%).',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v_status;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NOW() &gt; v_tg + INTERVAL '30 minutes'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orders SET status='Da huy'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maorder=p_maorder;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'Bi huy tu dong (qua 30 phut).';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orders SET status='Dang dung',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giobatdau=NOW()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maorder=p_maorder;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'Check-in thanh cong.';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$$ LANGUAGE plpgsql;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LÀM GÌ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rõ ràng nếu order không tồn tại.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cho check-in order đang Dat truoc.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30 phút thì tự chuyển sang Da huy.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lệ thì chuyển Dang dung, ghi giobatdau.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4023360"/>
            <a:ext cx="269748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402336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bảo vệ: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quy tắc nằm trong DB nên web, pgAdmin hay script đều bị ràng buộc như nhau.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nổi bật: kiểm tra tồn kho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fn_kiem_tra_stock chặn bán vượt tồn kho ngay tại database trước khi thêm vào 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12080" cy="4069080"/>
          </a:xfrm>
          <a:prstGeom prst="rect">
            <a:avLst/>
          </a:prstGeom>
          <a:solidFill>
            <a:srgbClr val="0B1F3A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19072"/>
            <a:ext cx="493776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fn_kiem_tra_stock(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p_mavp VARCHAR, p_soluong INT)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VARCHAR AS $$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v_kho INT; v_ten VARCHAR(20);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soluong, tenvp INTO v_kho, v_ten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vatpham WHERE mavp = p_mavp;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FOUND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 'Vat pham % khong ton tai.',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p_mavp;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v_kho &lt; p_soluong THEN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'Khong du hang. Kho con: % (can: %).',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v_kho, p_soluong;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v_ten;</a:t>
            </a:r>
            <a:endParaRPr lang="en-US" sz="1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6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$$ LANGUAGE plpgsql;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LÀM GÌ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9659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số lượng tồn và tên vật phẩm theo mã.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nếu vật phẩm không tồn tại.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ngay khi kho không đủ số lượng.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tên vật phẩm để dùng tiếp khi hợp lệ.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4023360"/>
            <a:ext cx="269748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4023360"/>
            <a:ext cx="2368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bảo vệ: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gọi trong fn_them_chitietorder nên không thể bán âm kho kể cả khi thao tác sai.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hủy đặt trước quá hạn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 truoc quá 30 phút bị hủy tự động; rule nằm trong PostgreSQL.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truoc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thoigiandat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3898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43354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3354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2198218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phút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8218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hạn check-in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0051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29507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29507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3884371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4371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gọi /10 phút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96205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15661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15661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20"/>
          <p:cNvSpPr/>
          <p:nvPr/>
        </p:nvSpPr>
        <p:spPr>
          <a:xfrm>
            <a:off x="5570525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0525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fn_huy_dat_truoc...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82358" y="1691640"/>
            <a:ext cx="237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01814" y="1691640"/>
            <a:ext cx="148498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01814" y="169164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5"/>
          <p:cNvSpPr/>
          <p:nvPr/>
        </p:nvSpPr>
        <p:spPr>
          <a:xfrm>
            <a:off x="7256678" y="183794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huy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6678" y="2185416"/>
            <a:ext cx="137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status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08960"/>
            <a:ext cx="393192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chính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639312"/>
            <a:ext cx="356616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49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orders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status = 'Da huy'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'Dat truoc'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now() &gt; thoigiandat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interval '30 minutes';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393192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thiết kế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6393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tay qua POST /api/orders/cancel-expired.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chạy khi server startup và mỗi 10 phút.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tách sang pg_cron khi lên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&amp; báo cáo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và hàm trả bảng phục vụ báo cáo vận hành — phần khai thác dữ liệu chính.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93192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v_order_chua_thanh_toan — order chưa thanh toán.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v_ca_thieu_nhan_vien — ca làm thiếu người.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v_lap_day_phong_chung — mức lấp đầy phòng chung.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v_phong_ghe_trong — phòng / ghế còn trống.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91640"/>
            <a:ext cx="393192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BÁO CÁO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221992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fn_doanh_thu — doanh thu theo ngày/tháng/năm, tách DV &amp; VP.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fn_hieusuat_nhanvien — order &amp; doanh thu theo nhân viên.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fn_thongke_khunggio — lượt &amp; doanh thu theo khung giờ.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top_vatpham_thang — top vật phẩm bán chạy.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ds_luong_theo_thang — bảng lương kèm nghỉ sớm.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số báo cáo viết bằng CTE + window function (RANK, tổng tích lũy) trả về dạng bảng để web hiển thị trực tiếp.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web minh họa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 workflow end-to-end; mọi nghiệp vụ vẫn do database quyết định.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order đang dùng, đặt trước, tồn kho và phòng.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318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318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274777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777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order, đặt trước 48h, auto sinh mã, check-in, thanh toán.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691640"/>
            <a:ext cx="185166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7375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vật phẩm, nhập hàng, khóa kho đúng theo DB.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5140" y="1691640"/>
            <a:ext cx="18516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5140" y="1691640"/>
            <a:ext cx="185166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9" name="Text 17"/>
          <p:cNvSpPr/>
          <p:nvPr/>
        </p:nvSpPr>
        <p:spPr>
          <a:xfrm>
            <a:off x="6999732" y="1828800"/>
            <a:ext cx="1522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9732" y="2148840"/>
            <a:ext cx="15224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top vật phẩm, hiệu suất, lương, nghỉ sớm.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thao tác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3898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143354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43354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9" name="Text 27"/>
          <p:cNvSpPr/>
          <p:nvPr/>
        </p:nvSpPr>
        <p:spPr>
          <a:xfrm>
            <a:off x="2198218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8218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validate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10051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829507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29507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4" name="Text 32"/>
          <p:cNvSpPr/>
          <p:nvPr/>
        </p:nvSpPr>
        <p:spPr>
          <a:xfrm>
            <a:off x="3884371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84371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96205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515661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15661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7"/>
          <p:cNvSpPr/>
          <p:nvPr/>
        </p:nvSpPr>
        <p:spPr>
          <a:xfrm>
            <a:off x="5570525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0525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+ data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82358" y="3840480"/>
            <a:ext cx="237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201814" y="3840480"/>
            <a:ext cx="148498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01814" y="3840480"/>
            <a:ext cx="1484986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4" name="Text 42"/>
          <p:cNvSpPr/>
          <p:nvPr/>
        </p:nvSpPr>
        <p:spPr>
          <a:xfrm>
            <a:off x="7256678" y="3986784"/>
            <a:ext cx="137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56678" y="4334256"/>
            <a:ext cx="137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function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Tổng quan (Dashboard)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tổng hợp số liệu vận hành theo thời gian thực.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(Dashboard)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thẻ KPI: tổng order, đang dùng, đặt trước, khách hàng.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Ghế trống, phòng riêng trống, vật phẩm thiếu, tổng doanh thu.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“Orders gần nhất” và “Cảnh báo tồn kho”.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Tải lại lấy số liệu mới từ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Orders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và xử lý vòng đời order ngay trên giao diện.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order: mã, khách, dịch vụ, trạng thái, giờ.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 / đặt trước 48h, tự sinh mã order &amp; khách.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thêm vật phẩm, thanh toán, hủy order.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thao tác gọi function &amp; constraint trong DB.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Phòng / Ghế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tình trạng chỗ ngồi.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/ Ghế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chung: số ghế trống / tổng ghế.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riêng: sức chứa tối đa, hệ số giá.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Day / Chua day cập nhật theo order.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Kho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tồn kho vật phẩm.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vật phẩm theo kho: mã, tên, tồn, kho.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hàng cho vật phẩm có sẵn.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khi tồn xuống thấp.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phẩm bị khóa vào đúng kho cố định.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Tạo vật phẩm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vật phẩm mới vào hệ thống.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vật phẩm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tên, giá tiền, kho, số lượng ban đầu.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tự bảo vệ kho cố định (makho).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trùng tên kể cả hoa/thường, khoảng trắng thừa.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Gói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gói hoạt động dài hạn của khách.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gói DV03 (1 ngày) / DV04 (1 tuần).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hạn, hủy gói.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gói với khách; chặn gói trùng thời gian.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Ca làm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sự theo 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làm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đi làm theo ngày &amp; ca.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nghỉ sớm (giờ nghỉ).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/ thay ca giữa nhân viên.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phục vụ tính lương &amp; hiệu suất.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Báo cáo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thác dữ liệu cho quản lý.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solidFill>
            <a:srgbClr val="EEF3F9"/>
          </a:solidFill>
          <a:ln w="19050">
            <a:solidFill>
              <a:srgbClr val="9AA6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
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
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/ chèn ảnh vào đây)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theo ngày / tháng / năm.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suất nhân viên, top vật phẩm.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lương, thống kê nghỉ sớm.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theo khung giờ.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kiểm thử &amp; kiểm chứng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138160" y="731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cả case thường lẫn case sai để chứng minh hệ thống chịu được thao tác lỗi.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 hoạt động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~50–60 khách/ngày, phân bố dàn trải để báo cáo theo tháng/ngày có ý nghĩa.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0708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347167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có lúc thiếu hàng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167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tình huống thiếu để test cảnh báo tồn kho và chặn bán.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6960" y="169164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69164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6321552" y="182880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quay lại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21552" y="214884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khách cũ hợp lý để test điểm, rank và lịch sử mua.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8214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82140" y="3200400"/>
            <a:ext cx="2529840" cy="54864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9" name="Text 17"/>
          <p:cNvSpPr/>
          <p:nvPr/>
        </p:nvSpPr>
        <p:spPr>
          <a:xfrm>
            <a:off x="204673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tests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4673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 chỗ, order sai giờ, thêm vào order đóng, sai kho vật phẩm — đều bị chặn.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0" y="3200400"/>
            <a:ext cx="2529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2020" y="3200400"/>
            <a:ext cx="252984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6612" y="3337560"/>
            <a:ext cx="2200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6612" y="3657600"/>
            <a:ext cx="22006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một phần order và cascade chi tiết để kiểm tra quan hệ phụ thuộc.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logic nghiệp vụ được giữ ở tầng database; web chỉ là lớp thao tác.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65960"/>
            <a:ext cx="73152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3NF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9461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94610" y="1965960"/>
            <a:ext cx="73152" cy="1051560"/>
          </a:xfrm>
          <a:prstGeom prst="rect">
            <a:avLst/>
          </a:prstGeom>
          <a:solidFill>
            <a:srgbClr val="0A4A8F"/>
          </a:solidFill>
          <a:ln/>
        </p:spPr>
      </p:sp>
      <p:sp>
        <p:nvSpPr>
          <p:cNvPr id="10" name="Text 8"/>
          <p:cNvSpPr/>
          <p:nvPr/>
        </p:nvSpPr>
        <p:spPr>
          <a:xfrm>
            <a:off x="274091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091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202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2020" y="1965960"/>
            <a:ext cx="73152" cy="1051560"/>
          </a:xfrm>
          <a:prstGeom prst="rect">
            <a:avLst/>
          </a:prstGeom>
          <a:solidFill>
            <a:srgbClr val="C02034"/>
          </a:solidFill>
          <a:ln/>
        </p:spPr>
      </p:sp>
      <p:sp>
        <p:nvSpPr>
          <p:cNvPr id="14" name="Text 12"/>
          <p:cNvSpPr/>
          <p:nvPr/>
        </p:nvSpPr>
        <p:spPr>
          <a:xfrm>
            <a:off x="487832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6.5k+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7832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kiểm thử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69430" y="1965960"/>
            <a:ext cx="181737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6B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69430" y="1965960"/>
            <a:ext cx="73152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7015734" y="2075688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15734" y="2569464"/>
            <a:ext cx="1561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phân quyền đăng nhập và lịch sử audit; scheduler chạy ở backend.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phân quyền, audit log, dashboard thời gian thực, tách scheduler sang pg_cron.</a:t>
            </a:r>
            <a:endParaRPr lang="en-US" sz="1250" dirty="0"/>
          </a:p>
          <a:p>
            <a:pPr marL="177800" indent="-177800" algn="l"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hóa đơn khi thanh toán để phục vụ đối soát kế toán.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cô đã lắng nghe!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StudySpace - Báo cáo CSDL</dc:title>
  <dc:subject>PptxGenJS Presentation</dc:subject>
  <dc:creator>Nhóm 6</dc:creator>
  <cp:lastModifiedBy>Nhóm 6</cp:lastModifiedBy>
  <cp:revision>16</cp:revision>
  <dcterms:created xsi:type="dcterms:W3CDTF">2026-06-13T16:00:32Z</dcterms:created>
  <dcterms:modified xsi:type="dcterms:W3CDTF">2026-06-22T07:29:18Z</dcterms:modified>
</cp:coreProperties>
</file>